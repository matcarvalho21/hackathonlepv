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392561ce524f08" /><Relationship Type="http://schemas.openxmlformats.org/officeDocument/2006/relationships/extended-properties" Target="/docProps/app.xml" Id="R9cf07ef8855c4f4a" /><Relationship Type="http://schemas.openxmlformats.org/officeDocument/2006/relationships/officeDocument" Target="/ppt/presentation.xml" Id="R99b4c26ca24d4a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e72f753e1a4a1a"/>
  </p:sldMasterIdLst>
  <p:notesMasterIdLst>
    <p:notesMasterId xmlns:r="http://schemas.openxmlformats.org/officeDocument/2006/relationships" r:id="Raf4b40f430444edf"/>
  </p:notesMasterIdLst>
  <p:sldIdLst>
    <p:sldId xmlns:r="http://schemas.openxmlformats.org/officeDocument/2006/relationships" id="256" r:id="Ra841ea4e096a4269"/>
    <p:sldId xmlns:r="http://schemas.openxmlformats.org/officeDocument/2006/relationships" id="257" r:id="Rf122d82479e14a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cd9abf3ec4e05" /><Relationship Type="http://schemas.openxmlformats.org/officeDocument/2006/relationships/slideMaster" Target="/ppt/slideMasters/slideMaster1.xml" Id="Ra2e72f753e1a4a1a" /><Relationship Type="http://schemas.openxmlformats.org/officeDocument/2006/relationships/notesMaster" Target="/ppt/notesMasters/notesMaster1.xml" Id="Raf4b40f430444edf" /><Relationship Type="http://schemas.openxmlformats.org/officeDocument/2006/relationships/presProps" Target="/ppt/presProps.xml" Id="Re2ed5c62e3d34b25" /><Relationship Type="http://schemas.openxmlformats.org/officeDocument/2006/relationships/tableStyles" Target="/ppt/tableStyles.xml" Id="R0d4e53952ce1405c" /><Relationship Type="http://schemas.openxmlformats.org/officeDocument/2006/relationships/slide" Target="/ppt/slides/slide1.xml" Id="Ra841ea4e096a4269" /><Relationship Type="http://schemas.openxmlformats.org/officeDocument/2006/relationships/slide" Target="/ppt/slides/slide2.xml" Id="Rf122d82479e14a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b0646033644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ecd54498945fd" /><Relationship Type="http://schemas.openxmlformats.org/officeDocument/2006/relationships/notesMaster" Target="/ppt/notesMasters/notesMaster1.xml" Id="R2d4b176029cf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3854663d84e5d" /><Relationship Type="http://schemas.openxmlformats.org/officeDocument/2006/relationships/notesMaster" Target="/ppt/notesMasters/notesMaster1.xml" Id="R934267bd4b984b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população registrada na educação especial chegou a 2.458.159 matrículas em 2025, 82% acima de 2021. Isso mede matrículas escolares, não incidência diagnóstica nem o número de famílias pagantes.</a:t>
            </a:r>
          </a:p>
          <a:p xmlns:a="http://schemas.openxmlformats.org/drawingml/2006/main">
            <a:r>
              <a:t>O IBGE registrou diagnóstico declarado de TEA em 2,6% das crianças de 5 a 9 anos em 2022. O Censo identificou 2,4 milhões de pessoas diagnosticadas no Brasil, mas não publicou esse número como quantidade de pais ou famílias. Por isso, apresentar pessoas e matrículas como unidades distintas.</a:t>
            </a:r>
          </a:p>
          <a:p xmlns:a="http://schemas.openxmlformats.org/drawingml/2006/main">
            <a:r>
              <a:t>Fontes: Inep, Censo Escolar 2025, https://download.inep.gov.br/publicacoes/institucionais/estatisticas_e_indicadores/notas_estatisticas_censo_escolar_da_educacao_basica_2025.pdf ; IBGE, Censo 2022, https://agenciadenoticias.ibge.gov.br/agencia-noticias/2012-agencia-noticias/noticias/43464-censo-2022-identifica-2-4-milhoes-de-pessoas-diagnosticadas-com-autismo-no-brasil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pesquisa voluntária do Mapa Autismo Brasil, com 23.632 respostas coletadas em 2025, 39,9% relataram que a pessoa com TEA não recebia nenhum apoio educacional. É um levantamento voluntário, não uma amostra probabilística nacional; use como sinal de necessidade, não como estimativa de todos os estudantes.</a:t>
            </a:r>
          </a:p>
          <a:p xmlns:a="http://schemas.openxmlformats.org/drawingml/2006/main">
            <a:r>
              <a:t>No Censo Escolar, 93,5% dos estudantes da educação especial de 4 a 17 anos estavam em classes comuns em 2025. As duas fontes medem grupos diferentes, então não afirmar que o número de falta de apoio descreve o mesmo conjunto de alunos incluídos em classes comuns. A combinação desses dados abre a conversa sobre como compartilhar observações, estratégias e metas entre escola e família.</a:t>
            </a:r>
          </a:p>
          <a:p xmlns:a="http://schemas.openxmlformats.org/drawingml/2006/main">
            <a:r>
              <a:t>Transição para a demo: “A plataforma organiza essa continuidade. Vou mostrar primeiro o perfil da criança e, depois, o diário de observações e as metas.”</a:t>
            </a:r>
          </a:p>
          <a:p xmlns:a="http://schemas.openxmlformats.org/drawingml/2006/main">
            <a:r>
              <a:t>Fontes: ABRAAC/Mapa Autismo Brasil, https://www.abraac.org/estatisticas ; Inep, Censo Escolar 2025, https://download.inep.gov.br/publicacoes/institucionais/estatisticas_e_indicadores/notas_estatisticas_censo_escolar_da_educacao_basica_2025.pdf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57801ab154c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30d1f0b8b49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0067f1f0e4d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239e5f2c84d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6b1d0554c46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c3eb5b3df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52095-E4F3-49FD-9CFE-11DD61C32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A65926-F462-4F0A-AF6C-B1447009A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39D82D-6AAB-4309-90D7-10D2D0853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8008D0-DCC2-4307-8F55-1B4C28CCD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02C906-805A-4469-BD3B-CE8E6D7FB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56FABE-4B93-4FB4-AF83-164D15E7C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9DF5B5-7B5B-49B8-9D1A-D36CE448A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F83FCB-5B81-44F4-84EA-B99751891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ACAA08-615F-4DB7-9301-9B3B65E33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DCDE2E-998C-4D4B-952B-DF434F98B0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b693599dad463d" /><Relationship Type="http://schemas.openxmlformats.org/officeDocument/2006/relationships/slideLayout" Target="/ppt/slideLayouts/slideLayout1.xml" Id="R13f70389bfbd4bf7" /><Relationship Type="http://schemas.openxmlformats.org/officeDocument/2006/relationships/slideLayout" Target="/ppt/slideLayouts/slideLayout2.xml" Id="Ra679115a85b94aae" /><Relationship Type="http://schemas.openxmlformats.org/officeDocument/2006/relationships/slideLayout" Target="/ppt/slideLayouts/slideLayout3.xml" Id="R9060a5935a06420a" /><Relationship Type="http://schemas.openxmlformats.org/officeDocument/2006/relationships/slideLayout" Target="/ppt/slideLayouts/slideLayout4.xml" Id="Rab11da4d33184c8a" /><Relationship Type="http://schemas.openxmlformats.org/officeDocument/2006/relationships/slideLayout" Target="/ppt/slideLayouts/slideLayout5.xml" Id="Rb36495eb4f2f4c03" /><Relationship Type="http://schemas.openxmlformats.org/officeDocument/2006/relationships/slideLayout" Target="/ppt/slideLayouts/slideLayout6.xml" Id="R01834686e15a4f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70389bfbd4bf7"/>
    <p:sldLayoutId xmlns:r="http://schemas.openxmlformats.org/officeDocument/2006/relationships" id="2147483650" r:id="Ra679115a85b94aae"/>
    <p:sldLayoutId xmlns:r="http://schemas.openxmlformats.org/officeDocument/2006/relationships" id="2147483651" r:id="R9060a5935a06420a"/>
    <p:sldLayoutId xmlns:r="http://schemas.openxmlformats.org/officeDocument/2006/relationships" id="2147483652" r:id="Rab11da4d33184c8a"/>
    <p:sldLayoutId xmlns:r="http://schemas.openxmlformats.org/officeDocument/2006/relationships" id="2147483653" r:id="Rb36495eb4f2f4c03"/>
    <p:sldLayoutId xmlns:r="http://schemas.openxmlformats.org/officeDocument/2006/relationships" id="2147483654" r:id="R01834686e15a4f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e813dfbff447d" /><Relationship Type="http://schemas.openxmlformats.org/officeDocument/2006/relationships/notesSlide" Target="/ppt/notesSlides/notesSlide1.xml" Id="R8142c8ed4fe04d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9fb70332e45d7" /><Relationship Type="http://schemas.openxmlformats.org/officeDocument/2006/relationships/notesSlide" Target="/ppt/notesSlides/notesSlide2.xml" Id="Ra2cd48e7af3c41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8F014BC-6AD5-4230-A430-A44DA12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PLACEHOLDER  /  DESENVOLVIMENTO INFANTIL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D000DC-7EC0-4318-BDAA-E172C13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01 /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91C2C-2A4B-47C5-B329-CFE253F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 necessidade de apoio aparece cedo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6C6503E7-E280-4934-897A-5498892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40"/>
          </a:bodyPr>
          <a:lstStyle xmlns:a="http://schemas.openxmlformats.org/drawingml/2006/main">
            <a:def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Os dados mostram uma população escolar em rápida expansão e necessidades presentes na infância.</a:t>
            </a:r>
          </a:p>
        </p:txBody>
      </p:sp>
      <p:sp>
        <p:nvSpPr>
          <p:cNvPr id="5" name="enrollment-number">
            <a:extLst xmlns:a="http://schemas.openxmlformats.org/drawingml/2006/main">
              <a:ext uri="{FF2B5EF4-FFF2-40B4-BE49-F238E27FC236}">
                <a16:creationId xmlns:a16="http://schemas.microsoft.com/office/drawing/2014/main" id="{19223856-9987-470F-A000-E935AC6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40"/>
          </a:bodyPr>
          <a:lstStyle xmlns:a="http://schemas.openxmlformats.org/drawingml/2006/main">
            <a:def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2,46 mi</a:t>
            </a:r>
          </a:p>
        </p:txBody>
      </p:sp>
      <p:sp>
        <p:nvSpPr>
          <p:cNvPr id="6" name="enrollment-label">
            <a:extLst xmlns:a="http://schemas.openxmlformats.org/drawingml/2006/main">
              <a:ext uri="{FF2B5EF4-FFF2-40B4-BE49-F238E27FC236}">
                <a16:creationId xmlns:a16="http://schemas.microsoft.com/office/drawing/2014/main" id="{2512F56B-9F18-4B4F-86BB-B060B9B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4381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matrículas na educação especial</a:t>
            </a:r>
          </a:p>
          <a:p xmlns:a="http://schemas.openxmlformats.org/drawingml/2006/main">
            <a: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Brasil, em 2025</a:t>
            </a:r>
          </a:p>
        </p:txBody>
      </p:sp>
      <p:sp>
        <p:nvSpPr>
          <p:cNvPr id="7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592A9071-D7AC-4812-A794-ECD87B0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owth-number">
            <a:extLst xmlns:a="http://schemas.openxmlformats.org/drawingml/2006/main">
              <a:ext uri="{FF2B5EF4-FFF2-40B4-BE49-F238E27FC236}">
                <a16:creationId xmlns:a16="http://schemas.microsoft.com/office/drawing/2014/main" id="{A15577C4-4C46-4FDF-B521-C4B29DA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77"/>
          </a:bodyPr>
          <a:lstStyle xmlns:a="http://schemas.openxmlformats.org/drawingml/2006/main">
            <a:def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+82%</a:t>
            </a:r>
          </a:p>
        </p:txBody>
      </p:sp>
      <p:sp>
        <p:nvSpPr>
          <p:cNvPr id="9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49B43A51-4AE8-4DEC-ADC9-4B84E83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número de matrículas</a:t>
            </a:r>
          </a:p>
          <a:p xmlns:a="http://schemas.openxmlformats.org/drawingml/2006/main">
            <a: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entre 2021 e 2025</a:t>
            </a:r>
          </a:p>
        </p:txBody>
      </p:sp>
      <p:sp>
        <p:nvSpPr>
          <p:cNvPr id="10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795871B0-B7D0-4808-9160-FBE6FFDF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evalence-number">
            <a:extLst xmlns:a="http://schemas.openxmlformats.org/drawingml/2006/main">
              <a:ext uri="{FF2B5EF4-FFF2-40B4-BE49-F238E27FC236}">
                <a16:creationId xmlns:a16="http://schemas.microsoft.com/office/drawing/2014/main" id="{150206CE-2990-4C82-AFFB-116C8DC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2,6%</a:t>
            </a:r>
          </a:p>
        </p:txBody>
      </p:sp>
      <p:sp>
        <p:nvSpPr>
          <p:cNvPr id="12" name="prevalence-label">
            <a:extLst xmlns:a="http://schemas.openxmlformats.org/drawingml/2006/main">
              <a:ext uri="{FF2B5EF4-FFF2-40B4-BE49-F238E27FC236}">
                <a16:creationId xmlns:a16="http://schemas.microsoft.com/office/drawing/2014/main" id="{FB382EAD-E15C-4927-A99A-5472BB9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455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das crianças de 5 a 9 anos tinham</a:t>
            </a:r>
          </a:p>
          <a:p xmlns:a="http://schemas.openxmlformats.org/drawingml/2006/main">
            <a: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diagnóstico declarado de TEA no Censo 2022</a:t>
            </a:r>
          </a:p>
        </p:txBody>
      </p:sp>
      <p:sp>
        <p:nvSpPr>
          <p:cNvPr id="13" name="prevalence-caveat">
            <a:extLst xmlns:a="http://schemas.openxmlformats.org/drawingml/2006/main">
              <a:ext uri="{FF2B5EF4-FFF2-40B4-BE49-F238E27FC236}">
                <a16:creationId xmlns:a16="http://schemas.microsoft.com/office/drawing/2014/main" id="{5D6612D3-1DF8-4E03-85B5-3D09C95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Prevalência por faixa etária.</a:t>
            </a:r>
          </a:p>
          <a:p xmlns:a="http://schemas.openxmlformats.org/drawingml/2006/main">
            <a: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Não mede crescimento anual dos diagnósticos.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FE5018DC-9CFA-4755-88A6-43C36F3B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Inep, Censo Escolar 2021–2025  ·  IBGE, Censo Demográfico 2022</a:t>
            </a:r>
          </a:p>
        </p:txBody>
      </p:sp>
    </p:spTree>
    <p:extLst>
      <p:ext uri="{BB962C8B-B14F-4D97-AF65-F5344CB8AC3E}">
        <p14:creationId xmlns:p14="http://schemas.microsoft.com/office/powerpoint/2010/main" val="1250157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8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5A975883-EF9E-4778-87AD-43E962D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DA INCLUSÃO À CONTINUIDADE DO ACOMPANHAMENTO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3A94D5-F7E5-4C99-B4FC-59CD8FB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6CC"/>
                </a:solidFill>
                <a:latin typeface="Arial"/>
                <a:ea typeface="Arial"/>
                <a:cs typeface="Arial"/>
              </a:rPr>
              <a:t>02 /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87582-4A01-467B-B3BD-B49C231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matrícula não garante apoio no cotidiano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5BB46C33-4873-4F51-B6DD-6E28ACF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4DB"/>
                </a:solidFill>
                <a:latin typeface="Arial"/>
                <a:ea typeface="Arial"/>
                <a:cs typeface="Arial"/>
              </a:rPr>
              <a:t>Inclusão em classes comuns avançou; numa pesquisa voluntária, muitos ainda relataram falta de apoio.</a:t>
            </a:r>
          </a:p>
        </p:txBody>
      </p:sp>
      <p:sp>
        <p:nvSpPr>
          <p:cNvPr id="5" name="no-support-number">
            <a:extLst xmlns:a="http://schemas.openxmlformats.org/drawingml/2006/main">
              <a:ext uri="{FF2B5EF4-FFF2-40B4-BE49-F238E27FC236}">
                <a16:creationId xmlns:a16="http://schemas.microsoft.com/office/drawing/2014/main" id="{3530BE03-E747-4DEA-A5D4-E528F35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7"/>
          </a:bodyPr>
          <a:lstStyle xmlns:a="http://schemas.openxmlformats.org/drawingml/2006/main">
            <a:def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7725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39,9%</a:t>
            </a:r>
          </a:p>
        </p:txBody>
      </p:sp>
      <p:sp>
        <p:nvSpPr>
          <p:cNvPr id="6" name="no-support-label">
            <a:extLst xmlns:a="http://schemas.openxmlformats.org/drawingml/2006/main">
              <a:ext uri="{FF2B5EF4-FFF2-40B4-BE49-F238E27FC236}">
                <a16:creationId xmlns:a16="http://schemas.microsoft.com/office/drawing/2014/main" id="{564B0D6C-C98D-4258-BB22-0B189AA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respondentes com TEA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relataram não receber apoio educacional</a:t>
            </a:r>
          </a:p>
        </p:txBody>
      </p:sp>
      <p:sp>
        <p:nvSpPr>
          <p:cNvPr id="7" name="survey-label">
            <a:extLst xmlns:a="http://schemas.openxmlformats.org/drawingml/2006/main">
              <a:ext uri="{FF2B5EF4-FFF2-40B4-BE49-F238E27FC236}">
                <a16:creationId xmlns:a16="http://schemas.microsoft.com/office/drawing/2014/main" id="{13A4A8B1-08DF-418C-AA83-FA29430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Mapa Autismo Brasil 2025  ·  23.632 respostas voluntárias</a:t>
            </a:r>
          </a:p>
        </p:txBody>
      </p:sp>
      <p:sp>
        <p:nvSpPr>
          <p:cNvPr id="8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096315CE-AE17-41F9-AEE8-EDF2C23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90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stream-number">
            <a:extLst xmlns:a="http://schemas.openxmlformats.org/drawingml/2006/main">
              <a:ext uri="{FF2B5EF4-FFF2-40B4-BE49-F238E27FC236}">
                <a16:creationId xmlns:a16="http://schemas.microsoft.com/office/drawing/2014/main" id="{F1D88BD0-A2F8-485D-8BEC-3F5F78D2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96"/>
          </a:bodyPr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93,5%</a:t>
            </a:r>
          </a:p>
        </p:txBody>
      </p:sp>
      <p:sp>
        <p:nvSpPr>
          <p:cNvPr id="10" name="mainstream-label">
            <a:extLst xmlns:a="http://schemas.openxmlformats.org/drawingml/2006/main">
              <a:ext uri="{FF2B5EF4-FFF2-40B4-BE49-F238E27FC236}">
                <a16:creationId xmlns:a16="http://schemas.microsoft.com/office/drawing/2014/main" id="{7BA645FA-2C1A-4BE5-AA27-09A4E76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dos estudantes da educação especial</a:t>
            </a:r>
          </a:p>
          <a:p xmlns:a="http://schemas.openxmlformats.org/drawingml/2006/main">
            <a: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estavam em classes comuns em 2025</a:t>
            </a:r>
          </a:p>
        </p:txBody>
      </p:sp>
      <p:sp>
        <p:nvSpPr>
          <p:cNvPr id="1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3C579DFF-730D-40D9-8550-8882299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tform-bridge">
            <a:extLst xmlns:a="http://schemas.openxmlformats.org/drawingml/2006/main">
              <a:ext uri="{FF2B5EF4-FFF2-40B4-BE49-F238E27FC236}">
                <a16:creationId xmlns:a16="http://schemas.microsoft.com/office/drawing/2014/main" id="{2069251A-28A7-4EC2-B160-0D074C2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PLACEHOLDER conecta família, escola e trajetória da criança.</a:t>
            </a:r>
          </a:p>
        </p:txBody>
      </p:sp>
      <p:sp>
        <p:nvSpPr>
          <p:cNvPr id="13" name="demo-cue">
            <a:extLst xmlns:a="http://schemas.openxmlformats.org/drawingml/2006/main">
              <a:ext uri="{FF2B5EF4-FFF2-40B4-BE49-F238E27FC236}">
                <a16:creationId xmlns:a16="http://schemas.microsoft.com/office/drawing/2014/main" id="{F50F8F4E-C0DE-428D-8736-C2D1FB89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DE7A8"/>
                </a:solidFill>
                <a:latin typeface="Arial"/>
                <a:ea typeface="Arial"/>
                <a:cs typeface="Arial"/>
              </a:rPr>
              <a:t>Agora, vamos ver como isso funciona na plataforma.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1D591874-B777-48D3-AD79-6B5C56A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Fontes: Mapa Autismo Brasil, coleta 2025 (amostra voluntária)  ·  Inep, Censo Escolar 2025</a:t>
            </a:r>
          </a:p>
        </p:txBody>
      </p:sp>
    </p:spTree>
    <p:extLst>
      <p:ext uri="{BB962C8B-B14F-4D97-AF65-F5344CB8AC3E}">
        <p14:creationId xmlns:p14="http://schemas.microsoft.com/office/powerpoint/2010/main" val="1280883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2026-10-31T13:14:20.6560000Z</dcterms:created>
  <dcterms:modified xsi:type="dcterms:W3CDTF">2026-10-31T13:14:20.6560000Z</dcterms:modified>
</coreProperties>
</file>