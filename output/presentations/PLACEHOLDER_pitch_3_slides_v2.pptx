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2997426e6a4b6d" /><Relationship Type="http://schemas.openxmlformats.org/officeDocument/2006/relationships/extended-properties" Target="/docProps/app.xml" Id="R620cbf1104464ee5" /><Relationship Type="http://schemas.openxmlformats.org/officeDocument/2006/relationships/officeDocument" Target="/ppt/presentation.xml" Id="R8043baa165cf48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aa911c62184e65"/>
  </p:sldMasterIdLst>
  <p:notesMasterIdLst>
    <p:notesMasterId xmlns:r="http://schemas.openxmlformats.org/officeDocument/2006/relationships" r:id="R4f3d5feecb354811"/>
  </p:notesMasterIdLst>
  <p:sldIdLst>
    <p:sldId xmlns:r="http://schemas.openxmlformats.org/officeDocument/2006/relationships" id="256" r:id="R224df03439124007"/>
    <p:sldId xmlns:r="http://schemas.openxmlformats.org/officeDocument/2006/relationships" id="257" r:id="R34d6e69f45ec496d"/>
    <p:sldId xmlns:r="http://schemas.openxmlformats.org/officeDocument/2006/relationships" id="258" r:id="R6c94f584535645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c2c8e544a24f12" /><Relationship Type="http://schemas.openxmlformats.org/officeDocument/2006/relationships/slideMaster" Target="/ppt/slideMasters/slideMaster1.xml" Id="R1eaa911c62184e65" /><Relationship Type="http://schemas.openxmlformats.org/officeDocument/2006/relationships/notesMaster" Target="/ppt/notesMasters/notesMaster1.xml" Id="R4f3d5feecb354811" /><Relationship Type="http://schemas.openxmlformats.org/officeDocument/2006/relationships/presProps" Target="/ppt/presProps.xml" Id="R421d054e1db84d59" /><Relationship Type="http://schemas.openxmlformats.org/officeDocument/2006/relationships/tableStyles" Target="/ppt/tableStyles.xml" Id="Rff88fda0541c4a7f" /><Relationship Type="http://schemas.openxmlformats.org/officeDocument/2006/relationships/slide" Target="/ppt/slides/slide1.xml" Id="R224df03439124007" /><Relationship Type="http://schemas.openxmlformats.org/officeDocument/2006/relationships/slide" Target="/ppt/slides/slide2.xml" Id="R34d6e69f45ec496d" /><Relationship Type="http://schemas.openxmlformats.org/officeDocument/2006/relationships/slide" Target="/ppt/slides/slide3.xml" Id="R6c94f584535645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ec78e397154f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0c36ae5d9443c3" /><Relationship Type="http://schemas.openxmlformats.org/officeDocument/2006/relationships/notesMaster" Target="/ppt/notesMasters/notesMaster1.xml" Id="R0a14033b038d45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162f0d3efe422b" /><Relationship Type="http://schemas.openxmlformats.org/officeDocument/2006/relationships/notesMaster" Target="/ppt/notesMasters/notesMaster1.xml" Id="R3ffc83be6cb441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bcecafe6374e58" /><Relationship Type="http://schemas.openxmlformats.org/officeDocument/2006/relationships/notesMaster" Target="/ppt/notesMasters/notesMaster1.xml" Id="Rc4ee37e6516c4a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população registrada na educação especial chegou a 2.458.159 matrículas em 2025, 82% acima de 2021. Isso mede matrículas escolares, não incidência diagnóstica nem o número de famílias pagantes.</a:t>
            </a:r>
          </a:p>
          <a:p xmlns:a="http://schemas.openxmlformats.org/drawingml/2006/main">
            <a:r>
              <a:t>O IBGE registrou diagnóstico declarado de TEA em 2,6% das crianças de 5 a 9 anos em 2022. O Censo identificou 2,4 milhões de pessoas diagnosticadas no Brasil, mas não publicou esse número como quantidade de pais ou famílias. Por isso, apresentar pessoas e matrículas como unidades distintas.</a:t>
            </a:r>
          </a:p>
          <a:p xmlns:a="http://schemas.openxmlformats.org/drawingml/2006/main">
            <a:r>
              <a:t>Fontes: Inep, Censo Escolar 2025, https://download.inep.gov.br/publicacoes/institucionais/estatisticas_e_indicadores/notas_estatisticas_censo_escolar_da_educacao_basica_2025.pdf ; IBGE, Censo 2022, https://agenciadenoticias.ibge.gov.br/agencia-noticias/2012-agencia-noticias/noticias/43464-censo-2022-identifica-2-4-milhoes-de-pessoas-diagnosticadas-com-autismo-no-brasil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pesquisa voluntária do Mapa Autismo Brasil, com 23.632 respostas coletadas em 2025, 39,9% relataram que a pessoa com TEA não recebia nenhum apoio educacional. É um levantamento voluntário, não uma amostra probabilística nacional; use como sinal de necessidade, não como estimativa de todos os estudantes.</a:t>
            </a:r>
          </a:p>
          <a:p xmlns:a="http://schemas.openxmlformats.org/drawingml/2006/main">
            <a:r>
              <a:t>No Censo Escolar, 93,5% dos estudantes da educação especial de 4 a 17 anos estavam em classes comuns em 2025. As duas fontes medem grupos diferentes, então não afirmar que o número de falta de apoio descreve o mesmo conjunto de alunos incluídos em classes comuns. A combinação desses dados abre a conversa sobre como compartilhar observações, estratégias e metas entre escola e família.</a:t>
            </a:r>
          </a:p>
          <a:p xmlns:a="http://schemas.openxmlformats.org/drawingml/2006/main">
            <a:r>
              <a:t>Transição para a demo: “A plataforma organiza essa continuidade. Vou mostrar primeiro o perfil da criança e, depois, o diário de observações e as metas.”</a:t>
            </a:r>
          </a:p>
          <a:p xmlns:a="http://schemas.openxmlformats.org/drawingml/2006/main">
            <a:r>
              <a:t>Fontes: ABRAAC/Mapa Autismo Brasil, https://www.abraac.org/estatisticas ; Inep, Censo Escolar 2025, https://download.inep.gov.br/publicacoes/institucionais/estatisticas_e_indicadores/notas_estatisticas_censo_escolar_da_educacao_basica_2025.pdf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de receita a validar: freemium e assinatura para famílias, com faixa de teste de até R$ 40/mês mencionada pela equipe; licença institucional por escola ou por perfis autorizados. O plano integrado preliminar traz R$ 200/mês como hipótese para cada modalidade, sem validação comercial. A faixa de R$ 40 para famílias e a hipótese de R$ 200 para escolas são alternativas para pesquisa, não preços finais.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Cálculo técnico do plano, em uso médio estimado: 1.096.800 tokens de entrada e 45.600 de saída por perfil/mês. Com DeepSeek-V4.1-Flash-1017 a US$ 0,225/M entrada e US$ 0,90/M saída, câmbio de planejamento R$ 6/US$, isso equivale a R$ 1,72692 por perfil/mês em IA. Hospedagem estimada em R$ 400/mês ÷ 100 famílias = R$ 4,00 por perfil; total R$ 5,72692, arredondado para R$ 5,73. Uso intenso estimado: R$ 10,61 de tokens + hospedagem por perfil/mês. Esses valores não incluem equipe, suporte, marketing, tributos, pagamentos, revisão especializada, segurança ou outros custos operacionais. O rateio por 100 famílias depende da hipótese de hospedagem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documentação atual da Featherless descreve o plano Developer com créditos mensais a partir de US$ 50, uso cobrado por token conforme modelo e créditos não expirantes. Se esse mínimo for necessário, no câmbio de planejamento do documento, o desembolso em créditos seria R$ 300, mais R$ 400 de hospedagem; a diferença em relação ao uso consumido permanece como crédito e não deve ser somada novamente ao custo dos tokens. Tarifas do modelo devem ser confirmadas no catálogo vigente antes do lançamento.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Plano de implantação informado no PDF: piloto de oito semanas com 15 famílias e até três escolas; abordar escolas parceiras e coordenações. O documento traz custos internos de divulgação, não referências de mercado: nano-influenciadores (1 mil–10 mil seguidores) R$ 100–500 por ação; micro, R$ 500–2.500 por publicação; mid-tier, R$ 2 mil–15 mil por ação; eventual parceria remunerada com escola, R$ 500–2.500 por mês. No slide, destacamos nano como experimento inicial. Medir conclusão do formulário, utilidade percebida, adesão, retenção, conversão, custo de aquisição e uso real de tokens.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interna: Plano_integrado_resumido_familias_escolas.pdf, pp. 3–5, datado de 31/10/2026. Fonte externa para mecânica de crédito/tokens: Featherless, Developer and Credits, https://featherless.ai/docs/request-pricing-and-credits ; Plans, https://featherless.ai/docs/plans.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a8b7b1be84d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9bd74d7f646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1cb77135446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fec1da9184c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4c45785bc43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0dd4c4a2543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752095-E4F3-49FD-9CFE-11DD61C32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A65926-F462-4F0A-AF6C-B1447009A5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39D82D-6AAB-4309-90D7-10D2D0853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8008D0-DCC2-4307-8F55-1B4C28CCD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02C906-805A-4469-BD3B-CE8E6D7FB2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56FABE-4B93-4FB4-AF83-164D15E7C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9DF5B5-7B5B-49B8-9D1A-D36CE448A8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F83FCB-5B81-44F4-84EA-B997518917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ACAA08-615F-4DB7-9301-9B3B65E33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DCDE2E-998C-4D4B-952B-DF434F98B0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012723ffea4a81" /><Relationship Type="http://schemas.openxmlformats.org/officeDocument/2006/relationships/slideLayout" Target="/ppt/slideLayouts/slideLayout1.xml" Id="R323038ca356a4d35" /><Relationship Type="http://schemas.openxmlformats.org/officeDocument/2006/relationships/slideLayout" Target="/ppt/slideLayouts/slideLayout2.xml" Id="Rd815811485544142" /><Relationship Type="http://schemas.openxmlformats.org/officeDocument/2006/relationships/slideLayout" Target="/ppt/slideLayouts/slideLayout3.xml" Id="R132e6d29d95a4c9b" /><Relationship Type="http://schemas.openxmlformats.org/officeDocument/2006/relationships/slideLayout" Target="/ppt/slideLayouts/slideLayout4.xml" Id="R5a42febb9bf54040" /><Relationship Type="http://schemas.openxmlformats.org/officeDocument/2006/relationships/slideLayout" Target="/ppt/slideLayouts/slideLayout5.xml" Id="Ra58572592d694cce" /><Relationship Type="http://schemas.openxmlformats.org/officeDocument/2006/relationships/slideLayout" Target="/ppt/slideLayouts/slideLayout6.xml" Id="R4fb54a7273a44b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3038ca356a4d35"/>
    <p:sldLayoutId xmlns:r="http://schemas.openxmlformats.org/officeDocument/2006/relationships" id="2147483650" r:id="Rd815811485544142"/>
    <p:sldLayoutId xmlns:r="http://schemas.openxmlformats.org/officeDocument/2006/relationships" id="2147483651" r:id="R132e6d29d95a4c9b"/>
    <p:sldLayoutId xmlns:r="http://schemas.openxmlformats.org/officeDocument/2006/relationships" id="2147483652" r:id="R5a42febb9bf54040"/>
    <p:sldLayoutId xmlns:r="http://schemas.openxmlformats.org/officeDocument/2006/relationships" id="2147483653" r:id="Ra58572592d694cce"/>
    <p:sldLayoutId xmlns:r="http://schemas.openxmlformats.org/officeDocument/2006/relationships" id="2147483654" r:id="R4fb54a7273a44b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6c20f070364e03" /><Relationship Type="http://schemas.openxmlformats.org/officeDocument/2006/relationships/notesSlide" Target="/ppt/notesSlides/notesSlide1.xml" Id="Rae1c5193a1a744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e2f35934d4aa7" /><Relationship Type="http://schemas.openxmlformats.org/officeDocument/2006/relationships/notesSlide" Target="/ppt/notesSlides/notesSlide2.xml" Id="R0827faa38de045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19e9fdc974430b" /><Relationship Type="http://schemas.openxmlformats.org/officeDocument/2006/relationships/notesSlide" Target="/ppt/notesSlides/notesSlide3.xml" Id="R3fc6ec951b4d44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B8F014BC-6AD5-4230-A430-A44DA12F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PLACEHOLDER  /  DESENVOLVIMENTO INFANTIL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6D000DC-7EC0-4318-BDAA-E172C13D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827B"/>
                </a:solidFill>
                <a:latin typeface="Arial"/>
                <a:ea typeface="Arial"/>
                <a:cs typeface="Arial"/>
              </a:rPr>
              <a:t>01 / 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D91C2C-2A4B-47C5-B329-CFE253F5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A necessidade de apoio aparece cedo</a:t>
            </a:r>
          </a:p>
        </p:txBody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6C6503E7-E280-4934-897A-5498892E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40"/>
          </a:bodyPr>
          <a:lstStyle xmlns:a="http://schemas.openxmlformats.org/drawingml/2006/main">
            <a:def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Os dados mostram uma população escolar em rápida expansão e necessidades presentes na infância.</a:t>
            </a:r>
          </a:p>
        </p:txBody>
      </p:sp>
      <p:sp>
        <p:nvSpPr>
          <p:cNvPr id="5" name="enrollment-number">
            <a:extLst xmlns:a="http://schemas.openxmlformats.org/drawingml/2006/main">
              <a:ext uri="{FF2B5EF4-FFF2-40B4-BE49-F238E27FC236}">
                <a16:creationId xmlns:a16="http://schemas.microsoft.com/office/drawing/2014/main" id="{19223856-9987-470F-A000-E935AC6F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40"/>
          </a:bodyPr>
          <a:lstStyle xmlns:a="http://schemas.openxmlformats.org/drawingml/2006/main">
            <a:def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pPr>
            <a:r>
              <a:rPr sz="7950" b="1">
                <a:solidFill>
                  <a:srgbClr val="285C47"/>
                </a:solidFill>
                <a:latin typeface="Arial"/>
                <a:ea typeface="Arial"/>
                <a:cs typeface="Arial"/>
              </a:rPr>
              <a:t>2,46 mi</a:t>
            </a:r>
          </a:p>
        </p:txBody>
      </p:sp>
      <p:sp>
        <p:nvSpPr>
          <p:cNvPr id="6" name="enrollment-label">
            <a:extLst xmlns:a="http://schemas.openxmlformats.org/drawingml/2006/main">
              <a:ext uri="{FF2B5EF4-FFF2-40B4-BE49-F238E27FC236}">
                <a16:creationId xmlns:a16="http://schemas.microsoft.com/office/drawing/2014/main" id="{2512F56B-9F18-4B4F-86BB-B060B9BA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4381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matrículas na educação especial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no Brasil, em 2025</a:t>
            </a:r>
          </a:p>
        </p:txBody>
      </p:sp>
      <p:sp>
        <p:nvSpPr>
          <p:cNvPr id="7" name="main-divider">
            <a:extLst xmlns:a="http://schemas.openxmlformats.org/drawingml/2006/main">
              <a:ext uri="{FF2B5EF4-FFF2-40B4-BE49-F238E27FC236}">
                <a16:creationId xmlns:a16="http://schemas.microsoft.com/office/drawing/2014/main" id="{592A9071-D7AC-4812-A794-ECD87B01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43175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owth-number">
            <a:extLst xmlns:a="http://schemas.openxmlformats.org/drawingml/2006/main">
              <a:ext uri="{FF2B5EF4-FFF2-40B4-BE49-F238E27FC236}">
                <a16:creationId xmlns:a16="http://schemas.microsoft.com/office/drawing/2014/main" id="{A15577C4-4C46-4FDF-B521-C4B29DA9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77"/>
          </a:bodyPr>
          <a:lstStyle xmlns:a="http://schemas.openxmlformats.org/drawingml/2006/main">
            <a:def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+82%</a:t>
            </a:r>
          </a:p>
        </p:txBody>
      </p:sp>
      <p:sp>
        <p:nvSpPr>
          <p:cNvPr id="9" name="growth-label">
            <a:extLst xmlns:a="http://schemas.openxmlformats.org/drawingml/2006/main">
              <a:ext uri="{FF2B5EF4-FFF2-40B4-BE49-F238E27FC236}">
                <a16:creationId xmlns:a16="http://schemas.microsoft.com/office/drawing/2014/main" id="{49B43A51-4AE8-4DEC-ADC9-4B84E836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95675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no número de matrículas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entre 2021 e 2025</a:t>
            </a:r>
          </a:p>
        </p:txBody>
      </p:sp>
      <p:sp>
        <p:nvSpPr>
          <p:cNvPr id="10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795871B0-B7D0-4808-9160-FBE6FFDF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evalence-number">
            <a:extLst xmlns:a="http://schemas.openxmlformats.org/drawingml/2006/main">
              <a:ext uri="{FF2B5EF4-FFF2-40B4-BE49-F238E27FC236}">
                <a16:creationId xmlns:a16="http://schemas.microsoft.com/office/drawing/2014/main" id="{150206CE-2990-4C82-AFFB-116C8DC6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2,6%</a:t>
            </a:r>
          </a:p>
        </p:txBody>
      </p:sp>
      <p:sp>
        <p:nvSpPr>
          <p:cNvPr id="12" name="prevalence-label">
            <a:extLst xmlns:a="http://schemas.openxmlformats.org/drawingml/2006/main">
              <a:ext uri="{FF2B5EF4-FFF2-40B4-BE49-F238E27FC236}">
                <a16:creationId xmlns:a16="http://schemas.microsoft.com/office/drawing/2014/main" id="{FB382EAD-E15C-4927-A99A-5472BB9F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4552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52E"/>
                </a:solidFill>
                <a:latin typeface="Arial"/>
                <a:ea typeface="Arial"/>
                <a:cs typeface="Arial"/>
              </a:rPr>
              <a:t>das crianças de 5 a 9 anos tinham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52E"/>
                </a:solidFill>
                <a:latin typeface="Arial"/>
                <a:ea typeface="Arial"/>
                <a:cs typeface="Arial"/>
              </a:rPr>
              <a:t>diagnóstico declarado de TEA no Censo 2022</a:t>
            </a:r>
          </a:p>
        </p:txBody>
      </p:sp>
      <p:sp>
        <p:nvSpPr>
          <p:cNvPr id="13" name="prevalence-caveat">
            <a:extLst xmlns:a="http://schemas.openxmlformats.org/drawingml/2006/main">
              <a:ext uri="{FF2B5EF4-FFF2-40B4-BE49-F238E27FC236}">
                <a16:creationId xmlns:a16="http://schemas.microsoft.com/office/drawing/2014/main" id="{5D6612D3-1DF8-4E03-85B5-3D09C95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5300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Prevalência por faixa etária.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Não mede crescimento anual dos diagnósticos.</a:t>
            </a:r>
          </a:p>
        </p:txBody>
      </p:sp>
      <p:sp>
        <p:nvSpPr>
          <p:cNvPr id="14" name="source-line">
            <a:extLst xmlns:a="http://schemas.openxmlformats.org/drawingml/2006/main">
              <a:ext uri="{FF2B5EF4-FFF2-40B4-BE49-F238E27FC236}">
                <a16:creationId xmlns:a16="http://schemas.microsoft.com/office/drawing/2014/main" id="{FE5018DC-9CFA-4755-88A6-43C36F3B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Fontes: Inep, Censo Escolar 2021–2025  ·  IBGE, Censo Demográfico 2022</a:t>
            </a:r>
          </a:p>
        </p:txBody>
      </p:sp>
    </p:spTree>
    <p:extLst>
      <p:ext uri="{BB962C8B-B14F-4D97-AF65-F5344CB8AC3E}">
        <p14:creationId xmlns:p14="http://schemas.microsoft.com/office/powerpoint/2010/main" val="1250157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85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5A975883-EF9E-4778-87AD-43E962D3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7A8"/>
                </a:solidFill>
                <a:latin typeface="Arial"/>
                <a:ea typeface="Arial"/>
                <a:cs typeface="Arial"/>
              </a:rPr>
              <a:t>DA INCLUSÃO À CONTINUIDADE DO ACOMPANHAMENTO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3A94D5-F7E5-4C99-B4FC-59CD8FBA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D6CC"/>
                </a:solidFill>
                <a:latin typeface="Arial"/>
                <a:ea typeface="Arial"/>
                <a:cs typeface="Arial"/>
              </a:rPr>
              <a:t>02 / 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087582-4A01-467B-B3BD-B49C2314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matrícula não garante apoio no cotidiano</a:t>
            </a:r>
          </a:p>
        </p:txBody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5BB46C33-4873-4F51-B6DD-6E28ACFA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4DB"/>
                </a:solidFill>
                <a:latin typeface="Arial"/>
                <a:ea typeface="Arial"/>
                <a:cs typeface="Arial"/>
              </a:rPr>
              <a:t>Inclusão em classes comuns avançou; numa pesquisa voluntária, muitos ainda relataram falta de apoio.</a:t>
            </a:r>
          </a:p>
        </p:txBody>
      </p:sp>
      <p:sp>
        <p:nvSpPr>
          <p:cNvPr id="5" name="no-support-number">
            <a:extLst xmlns:a="http://schemas.openxmlformats.org/drawingml/2006/main">
              <a:ext uri="{FF2B5EF4-FFF2-40B4-BE49-F238E27FC236}">
                <a16:creationId xmlns:a16="http://schemas.microsoft.com/office/drawing/2014/main" id="{3530BE03-E747-4DEA-A5D4-E528F357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87"/>
          </a:bodyPr>
          <a:lstStyle xmlns:a="http://schemas.openxmlformats.org/drawingml/2006/main">
            <a:def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pPr>
            <a:r>
              <a:rPr sz="7725" b="1">
                <a:solidFill>
                  <a:srgbClr val="CDE7A8"/>
                </a:solidFill>
                <a:latin typeface="Arial"/>
                <a:ea typeface="Arial"/>
                <a:cs typeface="Arial"/>
              </a:rPr>
              <a:t>39,9%</a:t>
            </a:r>
          </a:p>
        </p:txBody>
      </p:sp>
      <p:sp>
        <p:nvSpPr>
          <p:cNvPr id="6" name="no-support-label">
            <a:extLst xmlns:a="http://schemas.openxmlformats.org/drawingml/2006/main">
              <a:ext uri="{FF2B5EF4-FFF2-40B4-BE49-F238E27FC236}">
                <a16:creationId xmlns:a16="http://schemas.microsoft.com/office/drawing/2014/main" id="{564B0D6C-C98D-4258-BB22-0B189AA9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dos respondentes com TEA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relataram não receber apoio educacional</a:t>
            </a:r>
          </a:p>
        </p:txBody>
      </p:sp>
      <p:sp>
        <p:nvSpPr>
          <p:cNvPr id="7" name="survey-label">
            <a:extLst xmlns:a="http://schemas.openxmlformats.org/drawingml/2006/main">
              <a:ext uri="{FF2B5EF4-FFF2-40B4-BE49-F238E27FC236}">
                <a16:creationId xmlns:a16="http://schemas.microsoft.com/office/drawing/2014/main" id="{13A4A8B1-08DF-418C-AA83-FA29430C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7D6CC"/>
                </a:solidFill>
                <a:latin typeface="Arial"/>
                <a:ea typeface="Arial"/>
                <a:cs typeface="Arial"/>
              </a:rPr>
              <a:t>Mapa Autismo Brasil 2025  ·  23.632 respostas voluntárias</a:t>
            </a:r>
          </a:p>
        </p:txBody>
      </p:sp>
      <p:sp>
        <p:nvSpPr>
          <p:cNvPr id="8" name="main-divider">
            <a:extLst xmlns:a="http://schemas.openxmlformats.org/drawingml/2006/main">
              <a:ext uri="{FF2B5EF4-FFF2-40B4-BE49-F238E27FC236}">
                <a16:creationId xmlns:a16="http://schemas.microsoft.com/office/drawing/2014/main" id="{096315CE-AE17-41F9-AEE8-EDF2C238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190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instream-number">
            <a:extLst xmlns:a="http://schemas.openxmlformats.org/drawingml/2006/main">
              <a:ext uri="{FF2B5EF4-FFF2-40B4-BE49-F238E27FC236}">
                <a16:creationId xmlns:a16="http://schemas.microsoft.com/office/drawing/2014/main" id="{F1D88BD0-A2F8-485D-8BEC-3F5F78D2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496"/>
          </a:bodyPr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93,5%</a:t>
            </a:r>
          </a:p>
        </p:txBody>
      </p:sp>
      <p:sp>
        <p:nvSpPr>
          <p:cNvPr id="10" name="mainstream-label">
            <a:extLst xmlns:a="http://schemas.openxmlformats.org/drawingml/2006/main">
              <a:ext uri="{FF2B5EF4-FFF2-40B4-BE49-F238E27FC236}">
                <a16:creationId xmlns:a16="http://schemas.microsoft.com/office/drawing/2014/main" id="{7BA645FA-2C1A-4BE5-AA27-09A4E763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F0EA"/>
                </a:solidFill>
                <a:latin typeface="Arial"/>
                <a:ea typeface="Arial"/>
                <a:cs typeface="Arial"/>
              </a:rPr>
              <a:t>dos estudantes da educação especial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F0EA"/>
                </a:solidFill>
                <a:latin typeface="Arial"/>
                <a:ea typeface="Arial"/>
                <a:cs typeface="Arial"/>
              </a:rPr>
              <a:t>estavam em classes comuns em 2025</a:t>
            </a:r>
          </a:p>
        </p:txBody>
      </p:sp>
      <p:sp>
        <p:nvSpPr>
          <p:cNvPr id="11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3C579DFF-730D-40D9-8550-88822997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latform-bridge">
            <a:extLst xmlns:a="http://schemas.openxmlformats.org/drawingml/2006/main">
              <a:ext uri="{FF2B5EF4-FFF2-40B4-BE49-F238E27FC236}">
                <a16:creationId xmlns:a16="http://schemas.microsoft.com/office/drawing/2014/main" id="{2069251A-28A7-4EC2-B160-0D074C29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PLACEHOLDER conecta família, escola e trajetória da criança.</a:t>
            </a:r>
          </a:p>
        </p:txBody>
      </p:sp>
      <p:sp>
        <p:nvSpPr>
          <p:cNvPr id="13" name="demo-cue">
            <a:extLst xmlns:a="http://schemas.openxmlformats.org/drawingml/2006/main">
              <a:ext uri="{FF2B5EF4-FFF2-40B4-BE49-F238E27FC236}">
                <a16:creationId xmlns:a16="http://schemas.microsoft.com/office/drawing/2014/main" id="{F50F8F4E-C0DE-428D-8736-C2D1FB89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DE7A8"/>
                </a:solidFill>
                <a:latin typeface="Arial"/>
                <a:ea typeface="Arial"/>
                <a:cs typeface="Arial"/>
              </a:rPr>
              <a:t>Agora, vamos ver como isso funciona na plataforma.</a:t>
            </a:r>
          </a:p>
        </p:txBody>
      </p:sp>
      <p:sp>
        <p:nvSpPr>
          <p:cNvPr id="14" name="source-line">
            <a:extLst xmlns:a="http://schemas.openxmlformats.org/drawingml/2006/main">
              <a:ext uri="{FF2B5EF4-FFF2-40B4-BE49-F238E27FC236}">
                <a16:creationId xmlns:a16="http://schemas.microsoft.com/office/drawing/2014/main" id="{1D591874-B777-48D3-AD79-6B5C56A0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7D6CC"/>
                </a:solidFill>
                <a:latin typeface="Arial"/>
                <a:ea typeface="Arial"/>
                <a:cs typeface="Arial"/>
              </a:rPr>
              <a:t>Fontes: Mapa Autismo Brasil, coleta 2025 (amostra voluntária)  ·  Inep, Censo Escolar 2025</a:t>
            </a:r>
          </a:p>
        </p:txBody>
      </p:sp>
    </p:spTree>
    <p:extLst>
      <p:ext uri="{BB962C8B-B14F-4D97-AF65-F5344CB8AC3E}">
        <p14:creationId xmlns:p14="http://schemas.microsoft.com/office/powerpoint/2010/main" val="1280883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1265B5C8-F2F8-41AE-9A5C-B124E04A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MODELO DE RECEITA E LANÇAMENTO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548F0F8-85E0-45CD-845D-8FD158A6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827B"/>
                </a:solidFill>
                <a:latin typeface="Arial"/>
                <a:ea typeface="Arial"/>
                <a:cs typeface="Arial"/>
              </a:rPr>
              <a:t>03 / 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6EBB3D-8571-43FA-AD2E-472907C3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Preço a validar; custo técnico estimado</a:t>
            </a:r>
          </a:p>
        </p:txBody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5F4CC5D8-54FC-49E2-8AAC-5066B145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Combinar acesso gratuito, assinatura familiar e contratos institucionais.</a:t>
            </a:r>
          </a:p>
        </p:txBody>
      </p:sp>
      <p:sp>
        <p:nvSpPr>
          <p:cNvPr id="5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DA26B69A-8D22-45A2-97C7-AC68D095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297DCE7E-6809-4979-8A0A-C8F5E103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amilies-label">
            <a:extLst xmlns:a="http://schemas.openxmlformats.org/drawingml/2006/main">
              <a:ext uri="{FF2B5EF4-FFF2-40B4-BE49-F238E27FC236}">
                <a16:creationId xmlns:a16="http://schemas.microsoft.com/office/drawing/2014/main" id="{53E1C39E-AC12-425F-B803-88A2772E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FAMÍLIAS</a:t>
            </a:r>
          </a:p>
        </p:txBody>
      </p:sp>
      <p:sp>
        <p:nvSpPr>
          <p:cNvPr id="8" name="families-model">
            <a:extLst xmlns:a="http://schemas.openxmlformats.org/drawingml/2006/main">
              <a:ext uri="{FF2B5EF4-FFF2-40B4-BE49-F238E27FC236}">
                <a16:creationId xmlns:a16="http://schemas.microsoft.com/office/drawing/2014/main" id="{AEBF5C4F-5403-4061-8B8E-4B7E8E1A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2725"/>
            <a:ext cx="321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Freemium +</a:t>
            </a:r>
          </a:p>
          <a:p xmlns:a="http://schemas.openxmlformats.org/drawingml/2006/main">
            <a: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assinatura mensal</a:t>
            </a:r>
          </a:p>
        </p:txBody>
      </p:sp>
      <p:sp>
        <p:nvSpPr>
          <p:cNvPr id="9" name="families-price">
            <a:extLst xmlns:a="http://schemas.openxmlformats.org/drawingml/2006/main">
              <a:ext uri="{FF2B5EF4-FFF2-40B4-BE49-F238E27FC236}">
                <a16:creationId xmlns:a16="http://schemas.microsoft.com/office/drawing/2014/main" id="{5E826623-D1E0-4271-93A5-94269BD6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5C47"/>
                </a:solidFill>
                <a:latin typeface="Arial"/>
                <a:ea typeface="Arial"/>
                <a:cs typeface="Arial"/>
              </a:rPr>
              <a:t>até R$ 40/mês</a:t>
            </a:r>
          </a:p>
        </p:txBody>
      </p:sp>
      <p:sp>
        <p:nvSpPr>
          <p:cNvPr id="10" name="families-note">
            <a:extLst xmlns:a="http://schemas.openxmlformats.org/drawingml/2006/main">
              <a:ext uri="{FF2B5EF4-FFF2-40B4-BE49-F238E27FC236}">
                <a16:creationId xmlns:a16="http://schemas.microsoft.com/office/drawing/2014/main" id="{CC588B0F-1D71-49B2-96D7-12090144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316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Faixa a testar, com plano gratuito e recursos ampliados nos planos pagos.</a:t>
            </a:r>
          </a:p>
        </p:txBody>
      </p:sp>
      <p:sp>
        <p:nvSpPr>
          <p:cNvPr id="11" name="cost-label">
            <a:extLst xmlns:a="http://schemas.openxmlformats.org/drawingml/2006/main">
              <a:ext uri="{FF2B5EF4-FFF2-40B4-BE49-F238E27FC236}">
                <a16:creationId xmlns:a16="http://schemas.microsoft.com/office/drawing/2014/main" id="{36FA8ADA-2521-4253-8992-2A82E79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PISO TÉCNICO • 100 FAMÍLIAS</a:t>
            </a:r>
          </a:p>
        </p:txBody>
      </p:sp>
      <p:sp>
        <p:nvSpPr>
          <p:cNvPr id="12" name="cost-value">
            <a:extLst xmlns:a="http://schemas.openxmlformats.org/drawingml/2006/main">
              <a:ext uri="{FF2B5EF4-FFF2-40B4-BE49-F238E27FC236}">
                <a16:creationId xmlns:a16="http://schemas.microsoft.com/office/drawing/2014/main" id="{CB5864AD-316B-4726-9EAB-AEB37740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76525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85C47"/>
                </a:solidFill>
                <a:latin typeface="Arial"/>
                <a:ea typeface="Arial"/>
                <a:cs typeface="Arial"/>
              </a:rPr>
              <a:t>R$ 5,73</a:t>
            </a:r>
          </a:p>
        </p:txBody>
      </p:sp>
      <p:sp>
        <p:nvSpPr>
          <p:cNvPr id="13" name="cost-unit">
            <a:extLst xmlns:a="http://schemas.openxmlformats.org/drawingml/2006/main">
              <a:ext uri="{FF2B5EF4-FFF2-40B4-BE49-F238E27FC236}">
                <a16:creationId xmlns:a16="http://schemas.microsoft.com/office/drawing/2014/main" id="{AF0AAE93-4F95-4130-B7AE-43BDF521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24250"/>
            <a:ext cx="304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por perfil / mês</a:t>
            </a:r>
          </a:p>
        </p:txBody>
      </p:sp>
      <p:sp>
        <p:nvSpPr>
          <p:cNvPr id="14" name="cost-breakdown">
            <a:extLst xmlns:a="http://schemas.openxmlformats.org/drawingml/2006/main">
              <a:ext uri="{FF2B5EF4-FFF2-40B4-BE49-F238E27FC236}">
                <a16:creationId xmlns:a16="http://schemas.microsoft.com/office/drawing/2014/main" id="{DEE8B944-6B6F-4C90-9898-6513D63F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62400"/>
            <a:ext cx="304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R$ 1,73 em tokens</a:t>
            </a:r>
          </a:p>
          <a:p xmlns:a="http://schemas.openxmlformats.org/drawingml/2006/main">
            <a: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+ R$ 4,00 em hospedagem</a:t>
            </a:r>
          </a:p>
        </p:txBody>
      </p:sp>
      <p:sp>
        <p:nvSpPr>
          <p:cNvPr id="15" name="cost-intense">
            <a:extLst xmlns:a="http://schemas.openxmlformats.org/drawingml/2006/main">
              <a:ext uri="{FF2B5EF4-FFF2-40B4-BE49-F238E27FC236}">
                <a16:creationId xmlns:a16="http://schemas.microsoft.com/office/drawing/2014/main" id="{44F91AF5-FFBA-4FE5-A578-8B3F80C5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6672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Uso intenso: R$ 10,61/perfil</a:t>
            </a:r>
          </a:p>
        </p:txBody>
      </p:sp>
      <p:sp>
        <p:nvSpPr>
          <p:cNvPr id="16" name="schools-label">
            <a:extLst xmlns:a="http://schemas.openxmlformats.org/drawingml/2006/main">
              <a:ext uri="{FF2B5EF4-FFF2-40B4-BE49-F238E27FC236}">
                <a16:creationId xmlns:a16="http://schemas.microsoft.com/office/drawing/2014/main" id="{1C029AC2-582B-450F-9CE7-5B76A588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ESCOLAS E ALCANCE</a:t>
            </a:r>
          </a:p>
        </p:txBody>
      </p:sp>
      <p:sp>
        <p:nvSpPr>
          <p:cNvPr id="17" name="schools-model">
            <a:extLst xmlns:a="http://schemas.openxmlformats.org/drawingml/2006/main">
              <a:ext uri="{FF2B5EF4-FFF2-40B4-BE49-F238E27FC236}">
                <a16:creationId xmlns:a16="http://schemas.microsoft.com/office/drawing/2014/main" id="{F4CED8EA-B915-456B-8812-B12F463E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9557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Licença institucional</a:t>
            </a:r>
          </a:p>
        </p:txBody>
      </p:sp>
      <p:sp>
        <p:nvSpPr>
          <p:cNvPr id="18" name="schools-price">
            <a:extLst xmlns:a="http://schemas.openxmlformats.org/drawingml/2006/main">
              <a:ext uri="{FF2B5EF4-FFF2-40B4-BE49-F238E27FC236}">
                <a16:creationId xmlns:a16="http://schemas.microsoft.com/office/drawing/2014/main" id="{8BF7B90C-B41F-45D1-9E90-B99C8673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323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5C47"/>
                </a:solidFill>
                <a:latin typeface="Arial"/>
                <a:ea typeface="Arial"/>
                <a:cs typeface="Arial"/>
              </a:rPr>
              <a:t>R$ 200/mês no plano preliminar</a:t>
            </a:r>
          </a:p>
        </p:txBody>
      </p:sp>
      <p:sp>
        <p:nvSpPr>
          <p:cNvPr id="19" name="pilot">
            <a:extLst xmlns:a="http://schemas.openxmlformats.org/drawingml/2006/main">
              <a:ext uri="{FF2B5EF4-FFF2-40B4-BE49-F238E27FC236}">
                <a16:creationId xmlns:a16="http://schemas.microsoft.com/office/drawing/2014/main" id="{BE2A1C8F-1F2E-4CA6-9922-DDAAA94F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33775"/>
            <a:ext cx="323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Piloto de 8 semanas</a:t>
            </a:r>
          </a:p>
          <a:p xmlns:a="http://schemas.openxmlformats.org/drawingml/2006/main">
            <a: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15 famílias • até 3 escolas</a:t>
            </a:r>
          </a:p>
        </p:txBody>
      </p:sp>
      <p:sp>
        <p:nvSpPr>
          <p:cNvPr id="20" name="reach">
            <a:extLst xmlns:a="http://schemas.openxmlformats.org/drawingml/2006/main">
              <a:ext uri="{FF2B5EF4-FFF2-40B4-BE49-F238E27FC236}">
                <a16:creationId xmlns:a16="http://schemas.microsoft.com/office/drawing/2014/main" id="{695C27CA-8441-4164-B3BB-683CE09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23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Contato direto com escolas e divulgação com influenciadores de pedagogia e saúde do desenvolvimento.</a:t>
            </a:r>
          </a:p>
        </p:txBody>
      </p:sp>
      <p:sp>
        <p:nvSpPr>
          <p:cNvPr id="21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5671D436-43A1-4E15-B55E-F5B3A42D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ricing-caveat">
            <a:extLst xmlns:a="http://schemas.openxmlformats.org/drawingml/2006/main">
              <a:ext uri="{FF2B5EF4-FFF2-40B4-BE49-F238E27FC236}">
                <a16:creationId xmlns:a16="http://schemas.microsoft.com/office/drawing/2014/main" id="{9ECD4A88-208B-452E-89A2-877C06DB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0225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Preço final ainda não foi decidido nem otimizado. O piso cobre apenas tokens + hospedagem; o piloto medirá uso, adesão e custo real.</a:t>
            </a:r>
          </a:p>
        </p:txBody>
      </p:sp>
      <p:sp>
        <p:nvSpPr>
          <p:cNvPr id="23" name="outreach-note">
            <a:extLst xmlns:a="http://schemas.openxmlformats.org/drawingml/2006/main">
              <a:ext uri="{FF2B5EF4-FFF2-40B4-BE49-F238E27FC236}">
                <a16:creationId xmlns:a16="http://schemas.microsoft.com/office/drawing/2014/main" id="{E398276C-2C9D-4690-9373-38A3EF6F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Plano de divulgação: nano-influenciadores, R$ 100–500 por ação (premissa interna); acompanhar conversão e custo de aquisição.</a:t>
            </a:r>
          </a:p>
        </p:txBody>
      </p:sp>
      <p:sp>
        <p:nvSpPr>
          <p:cNvPr id="24" name="source-line">
            <a:extLst xmlns:a="http://schemas.openxmlformats.org/drawingml/2006/main">
              <a:ext uri="{FF2B5EF4-FFF2-40B4-BE49-F238E27FC236}">
                <a16:creationId xmlns:a16="http://schemas.microsoft.com/office/drawing/2014/main" id="{8D2AC262-17D8-489E-96D5-02A2DDEB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Fontes: plano integrado preliminar, pp. 3–5 (31/10/2026)  ·  Featherless, Developer e créditos</a:t>
            </a:r>
          </a:p>
        </p:txBody>
      </p:sp>
    </p:spTree>
    <p:extLst>
      <p:ext uri="{BB962C8B-B14F-4D97-AF65-F5344CB8AC3E}">
        <p14:creationId xmlns:p14="http://schemas.microsoft.com/office/powerpoint/2010/main" val="152661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2026-10-31T13:27:29.1640000Z</dcterms:created>
  <dcterms:modified xsi:type="dcterms:W3CDTF">2026-10-31T13:27:29.1640000Z</dcterms:modified>
</coreProperties>
</file>